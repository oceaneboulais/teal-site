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478" r:id="rId3"/>
    <p:sldId id="479" r:id="rId4"/>
    <p:sldId id="481" r:id="rId5"/>
    <p:sldId id="480" r:id="rId6"/>
    <p:sldId id="482" r:id="rId7"/>
    <p:sldId id="483" r:id="rId8"/>
    <p:sldId id="484" r:id="rId9"/>
    <p:sldId id="485" r:id="rId10"/>
    <p:sldId id="261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524"/>
    <p:restoredTop sz="94638"/>
  </p:normalViewPr>
  <p:slideViewPr>
    <p:cSldViewPr snapToGrid="0">
      <p:cViewPr varScale="1">
        <p:scale>
          <a:sx n="123" d="100"/>
          <a:sy n="123" d="100"/>
        </p:scale>
        <p:origin x="216" y="2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D8D8F2-8D04-C6B0-9C90-8394FA58056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AD01531-A11C-3BC5-A80A-2E4332313D7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C5C6F60-BFDF-AC81-5367-88613D36D8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46D8CE-6CC9-F540-A703-6A2FF8CEA1DA}" type="datetimeFigureOut">
              <a:rPr lang="en-US" smtClean="0"/>
              <a:t>9/27/25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A75A24C-8A4B-69E8-973F-FE7959008A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46841E0-ED11-10A2-241B-A624BA64A1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94D5F1-9827-BA48-8E5F-234460FA3D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530674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BC3DCA-EF6F-58BC-1BA4-0EB58A8AAA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9A05E08-0097-AE1A-8B9F-070554EE072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AB8DE24-BEA5-FD4E-6D2D-B77370F457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46D8CE-6CC9-F540-A703-6A2FF8CEA1DA}" type="datetimeFigureOut">
              <a:rPr lang="en-US" smtClean="0"/>
              <a:t>9/27/25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C5E1586-5525-2A95-65CE-32162FB5BD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D38CAE5-0920-48A6-C41E-39206410A1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94D5F1-9827-BA48-8E5F-234460FA3D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92004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8CD78D-A672-9F78-D6FE-3C139C0CF7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074DAD5-F9A7-5AE3-DF29-E8275D19F71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93255CD-BA64-4C6E-D1B3-C14CEE7805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46D8CE-6CC9-F540-A703-6A2FF8CEA1DA}" type="datetimeFigureOut">
              <a:rPr lang="en-US" smtClean="0"/>
              <a:t>9/27/25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FA80889-15F6-C95D-0708-7EDABEA90C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A51CC22-A9CF-10A0-EEDA-2F2E069164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94D5F1-9827-BA48-8E5F-234460FA3D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820192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5B3C99-5605-B288-7A19-19297C59BD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1697A0-162A-9361-10A8-87E9F9FA876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1D562AA-0529-6575-DB53-17C4BE8F177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53BC28E-F7FB-0D2A-E416-CEA84F5CC6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46D8CE-6CC9-F540-A703-6A2FF8CEA1DA}" type="datetimeFigureOut">
              <a:rPr lang="en-US" smtClean="0"/>
              <a:t>9/27/25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33E33F8-D794-82BA-2248-879AF5C6F7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3F363B1-2E70-4552-B138-EFA1A021EA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94D5F1-9827-BA48-8E5F-234460FA3D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732759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DAA8A5-9E93-01CD-F3AB-9CDF6F34BD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48D0DAE-6622-9BBB-B461-F0F39494180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ED68521-7C17-CA64-914E-BCA001F7E9F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C03D76F-8326-5856-EECE-706A54A432C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05BEEA3-AAB8-C2DA-722E-FFB89844291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8742DED-4368-0897-8C2D-D8A0ABA8AE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46D8CE-6CC9-F540-A703-6A2FF8CEA1DA}" type="datetimeFigureOut">
              <a:rPr lang="en-US" smtClean="0"/>
              <a:t>9/27/25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57878B7-B104-F1E8-FE10-DD278FBA56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1038882-FC65-BB1A-23B4-9EF447D947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94D5F1-9827-BA48-8E5F-234460FA3D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64276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D2E6C0-0F0F-09BA-4CCA-DD3C211147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916C268-2A68-0E01-E931-59CA9C4935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46D8CE-6CC9-F540-A703-6A2FF8CEA1DA}" type="datetimeFigureOut">
              <a:rPr lang="en-US" smtClean="0"/>
              <a:t>9/27/25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5D30509-6408-A92C-1BED-5F69633396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183E272-013D-5A2C-DB99-0EC652D169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94D5F1-9827-BA48-8E5F-234460FA3D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96392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1E9661A-124C-8BEA-8AB9-CF55345128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46D8CE-6CC9-F540-A703-6A2FF8CEA1DA}" type="datetimeFigureOut">
              <a:rPr lang="en-US" smtClean="0"/>
              <a:t>9/27/25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E9438E0-C7A0-3961-538F-FD2F4F0553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F7BCC8F-79AD-E92B-00FA-2DDDC2BED5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94D5F1-9827-BA48-8E5F-234460FA3D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87662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1B4F8B-DFF3-DF30-8661-17D4114C66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E015A9D-5602-0E5A-CE18-6CB52BC3678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C8968D8-29C1-09FF-1D26-80D5966BB62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1F36B11-9BF2-6D10-12C7-27A3354240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46D8CE-6CC9-F540-A703-6A2FF8CEA1DA}" type="datetimeFigureOut">
              <a:rPr lang="en-US" smtClean="0"/>
              <a:t>9/27/25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A93DDBA-0A0F-B52C-B74E-84429C8FEF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DA6DFBA-8AEC-508A-36E0-2E2C418579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94D5F1-9827-BA48-8E5F-234460FA3D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653109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3BDD51-5FB4-CC84-D796-7F68ACDC2D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A48C2D3-D21B-B235-D5B1-E0174A1D915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2B1D3A3-EB2E-3DBB-1255-0035E0F534A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2E392E3-121C-A0F4-3E22-2247484EF9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46D8CE-6CC9-F540-A703-6A2FF8CEA1DA}" type="datetimeFigureOut">
              <a:rPr lang="en-US" smtClean="0"/>
              <a:t>9/27/25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4FC103B-7459-0A23-8826-7F035778E3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D60663B-0A35-8815-1E25-19EC4278E0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94D5F1-9827-BA48-8E5F-234460FA3D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329531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6A1DC7-E5C9-D543-92B5-C54D4A43F4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11C8AAF-7FE8-F04D-164B-FCFE228C37C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6DC2E76-F231-E6F2-8A6F-60FBF3BE5C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46D8CE-6CC9-F540-A703-6A2FF8CEA1DA}" type="datetimeFigureOut">
              <a:rPr lang="en-US" smtClean="0"/>
              <a:t>9/27/25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DF0F6D3-A701-1297-DA62-D2C707C382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1B93473-EACF-88D0-0837-9C3CE84742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94D5F1-9827-BA48-8E5F-234460FA3D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7202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1A80319-7E70-1AE7-E872-770570054D5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8666589-7E62-4961-01AA-3B3575D779B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A53CD9C-99BB-88B8-A70C-88AEBD020F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46D8CE-6CC9-F540-A703-6A2FF8CEA1DA}" type="datetimeFigureOut">
              <a:rPr lang="en-US" smtClean="0"/>
              <a:t>9/27/25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3FDECDB-F949-BF70-3711-9E8471B7CC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424F916-7A92-BBEE-02F2-078CCB8BE5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94D5F1-9827-BA48-8E5F-234460FA3D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951114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4341E72-14C8-5CEA-0507-D6ABFFB3BB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7403ECE-0B77-3953-AD15-1ED20E54D62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AFAA078-7C42-B6D3-8F76-BD862928583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E46D8CE-6CC9-F540-A703-6A2FF8CEA1DA}" type="datetimeFigureOut">
              <a:rPr lang="en-US" smtClean="0"/>
              <a:t>9/27/25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0ABA5EE-A152-4D9F-742B-613096E44E4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0F4F77-6710-D703-299F-A9163EB4E9D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694D5F1-9827-BA48-8E5F-234460FA3D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45507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emf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emf"/><Relationship Id="rId4" Type="http://schemas.openxmlformats.org/officeDocument/2006/relationships/image" Target="../media/image4.emf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emf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emf"/><Relationship Id="rId4" Type="http://schemas.openxmlformats.org/officeDocument/2006/relationships/image" Target="../media/image7.emf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0.emf"/><Relationship Id="rId4" Type="http://schemas.openxmlformats.org/officeDocument/2006/relationships/image" Target="../media/image9.emf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emf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3.emf"/><Relationship Id="rId4" Type="http://schemas.openxmlformats.org/officeDocument/2006/relationships/image" Target="../media/image12.emf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emf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emf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AABDEA-C867-A92D-5113-0710EDD85D0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CA Drifter Deployment Summary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C83398F-2333-73DD-A30E-C7DBDB75E00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Alison Laferriere</a:t>
            </a:r>
          </a:p>
          <a:p>
            <a:r>
              <a:rPr lang="en-US" dirty="0"/>
              <a:t>9/27/25</a:t>
            </a:r>
          </a:p>
        </p:txBody>
      </p:sp>
    </p:spTree>
    <p:extLst>
      <p:ext uri="{BB962C8B-B14F-4D97-AF65-F5344CB8AC3E}">
        <p14:creationId xmlns:p14="http://schemas.microsoft.com/office/powerpoint/2010/main" val="346104592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98DD6D-7311-E0D1-1B30-7409B55154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</p:spPr>
        <p:txBody>
          <a:bodyPr>
            <a:normAutofit/>
          </a:bodyPr>
          <a:lstStyle/>
          <a:p>
            <a:r>
              <a:rPr lang="en-US" sz="4000" dirty="0"/>
              <a:t>February 2023: San Diego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EC119F6-43D8-6431-DB27-132D2EF5BC7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352" y="76534"/>
            <a:ext cx="1234895" cy="12726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Picture 3" descr="Logo&#10;&#10;Description automatically generated">
            <a:extLst>
              <a:ext uri="{FF2B5EF4-FFF2-40B4-BE49-F238E27FC236}">
                <a16:creationId xmlns:a16="http://schemas.microsoft.com/office/drawing/2014/main" id="{845FBEE2-2EF0-E915-61FF-10A0AB848ED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99327" y="5997388"/>
            <a:ext cx="1074356" cy="807320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C999003A-AC4D-4A5E-3015-5E05396BF0D8}"/>
              </a:ext>
            </a:extLst>
          </p:cNvPr>
          <p:cNvSpPr txBox="1"/>
          <p:nvPr/>
        </p:nvSpPr>
        <p:spPr>
          <a:xfrm>
            <a:off x="146417" y="1622745"/>
            <a:ext cx="5312551" cy="53553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itchFamily="2" charset="2"/>
              <a:buChar char="v"/>
            </a:pPr>
            <a:r>
              <a:rPr lang="en-US" dirty="0"/>
              <a:t>Two drifters successfully completed multiple dives to 250m</a:t>
            </a:r>
          </a:p>
          <a:p>
            <a:pPr marL="285750" indent="-285750">
              <a:buFont typeface="Wingdings" pitchFamily="2" charset="2"/>
              <a:buChar char="v"/>
            </a:pPr>
            <a:r>
              <a:rPr lang="en-US" dirty="0"/>
              <a:t>Drifter #4: </a:t>
            </a:r>
          </a:p>
          <a:p>
            <a:pPr marL="742950" lvl="1" indent="-285750">
              <a:buFont typeface="Wingdings" pitchFamily="2" charset="2"/>
              <a:buChar char="v"/>
            </a:pPr>
            <a:r>
              <a:rPr lang="en-US" dirty="0"/>
              <a:t>48-hour mission</a:t>
            </a:r>
          </a:p>
          <a:p>
            <a:pPr marL="742950" lvl="1" indent="-285750">
              <a:buFont typeface="Wingdings" pitchFamily="2" charset="2"/>
              <a:buChar char="v"/>
            </a:pPr>
            <a:r>
              <a:rPr lang="en-US" dirty="0"/>
              <a:t>250m depth</a:t>
            </a:r>
          </a:p>
          <a:p>
            <a:pPr marL="742950" lvl="1" indent="-285750">
              <a:buFont typeface="Wingdings" pitchFamily="2" charset="2"/>
              <a:buChar char="v"/>
            </a:pPr>
            <a:r>
              <a:rPr lang="en-US" dirty="0"/>
              <a:t>12-hour surface intervals</a:t>
            </a:r>
          </a:p>
          <a:p>
            <a:pPr marL="742950" lvl="1" indent="-285750">
              <a:buFont typeface="Wingdings" pitchFamily="2" charset="2"/>
              <a:buChar char="v"/>
            </a:pPr>
            <a:r>
              <a:rPr lang="en-US" dirty="0"/>
              <a:t>drifted ~0.5-2.3 km during each dive</a:t>
            </a:r>
          </a:p>
          <a:p>
            <a:pPr marL="285750" indent="-285750">
              <a:buFont typeface="Wingdings" pitchFamily="2" charset="2"/>
              <a:buChar char="v"/>
            </a:pPr>
            <a:r>
              <a:rPr lang="en-US" dirty="0"/>
              <a:t>Drifter #5: </a:t>
            </a:r>
          </a:p>
          <a:p>
            <a:pPr marL="742950" lvl="1" indent="-285750">
              <a:buFont typeface="Wingdings" pitchFamily="2" charset="2"/>
              <a:buChar char="v"/>
            </a:pPr>
            <a:r>
              <a:rPr lang="en-US" dirty="0"/>
              <a:t>completed a 24-hour mission</a:t>
            </a:r>
          </a:p>
          <a:p>
            <a:pPr marL="742950" lvl="1" indent="-285750">
              <a:buFont typeface="Wingdings" pitchFamily="2" charset="2"/>
              <a:buChar char="v"/>
            </a:pPr>
            <a:r>
              <a:rPr lang="en-US" dirty="0"/>
              <a:t>12-hour intervals</a:t>
            </a:r>
          </a:p>
          <a:p>
            <a:pPr marL="742950" lvl="1" indent="-285750">
              <a:buFont typeface="Wingdings" pitchFamily="2" charset="2"/>
              <a:buChar char="v"/>
            </a:pPr>
            <a:r>
              <a:rPr lang="en-US" dirty="0"/>
              <a:t>drifted ~0.3-2 km during each dive</a:t>
            </a:r>
          </a:p>
          <a:p>
            <a:pPr marL="285750" indent="-285750">
              <a:buFont typeface="Wingdings" pitchFamily="2" charset="2"/>
              <a:buChar char="v"/>
            </a:pPr>
            <a:r>
              <a:rPr lang="en-US" dirty="0"/>
              <a:t>Two vector sensors were tested</a:t>
            </a:r>
          </a:p>
          <a:p>
            <a:pPr marL="742950" lvl="1" indent="-285750">
              <a:buFont typeface="Wingdings" pitchFamily="2" charset="2"/>
              <a:buChar char="v"/>
            </a:pPr>
            <a:r>
              <a:rPr lang="en-US" dirty="0"/>
              <a:t>Drifter #4: M-35 (2-D) </a:t>
            </a:r>
          </a:p>
          <a:p>
            <a:pPr marL="742950" lvl="1" indent="-285750">
              <a:buFont typeface="Wingdings" pitchFamily="2" charset="2"/>
              <a:buChar char="v"/>
            </a:pPr>
            <a:r>
              <a:rPr lang="en-US" dirty="0"/>
              <a:t>Drifter #5: VS-209 (3-D)</a:t>
            </a:r>
          </a:p>
          <a:p>
            <a:pPr marL="285750" indent="-285750">
              <a:buFont typeface="Wingdings" pitchFamily="2" charset="2"/>
              <a:buChar char="v"/>
            </a:pPr>
            <a:r>
              <a:rPr lang="en-US" dirty="0"/>
              <a:t>Evaluated new ”Surface Interval” state – which enables the drifter to surface for a GPS fix after a specified time interval and then dive again</a:t>
            </a:r>
          </a:p>
          <a:p>
            <a:endParaRPr lang="en-US" dirty="0"/>
          </a:p>
          <a:p>
            <a:pPr marL="285750" indent="-285750">
              <a:buFont typeface="Wingdings" pitchFamily="2" charset="2"/>
              <a:buChar char="v"/>
            </a:pPr>
            <a:endParaRPr lang="en-US" dirty="0"/>
          </a:p>
        </p:txBody>
      </p:sp>
      <p:pic>
        <p:nvPicPr>
          <p:cNvPr id="5" name="Picture Placeholder 6">
            <a:extLst>
              <a:ext uri="{FF2B5EF4-FFF2-40B4-BE49-F238E27FC236}">
                <a16:creationId xmlns:a16="http://schemas.microsoft.com/office/drawing/2014/main" id="{FB71C081-E756-04C0-8FF4-45F6BF4514BC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11699" t="838" r="15902" b="7428"/>
          <a:stretch>
            <a:fillRect/>
          </a:stretch>
        </p:blipFill>
        <p:spPr>
          <a:xfrm>
            <a:off x="6958583" y="482931"/>
            <a:ext cx="4962535" cy="5049189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3696E956-F4DB-E8CE-2470-1B8C9D11306A}"/>
              </a:ext>
            </a:extLst>
          </p:cNvPr>
          <p:cNvSpPr txBox="1"/>
          <p:nvPr/>
        </p:nvSpPr>
        <p:spPr>
          <a:xfrm>
            <a:off x="9439850" y="3236292"/>
            <a:ext cx="81810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highlight>
                  <a:srgbClr val="FFFF00"/>
                </a:highlight>
              </a:rPr>
              <a:t>Deployed</a:t>
            </a:r>
          </a:p>
        </p:txBody>
      </p:sp>
    </p:spTree>
    <p:extLst>
      <p:ext uri="{BB962C8B-B14F-4D97-AF65-F5344CB8AC3E}">
        <p14:creationId xmlns:p14="http://schemas.microsoft.com/office/powerpoint/2010/main" val="92764538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2AC63B-69B2-D61A-4825-185E0918C9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FE2B26-FECB-EA82-EFF0-5B7C8587C3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</p:spPr>
        <p:txBody>
          <a:bodyPr>
            <a:normAutofit/>
          </a:bodyPr>
          <a:lstStyle/>
          <a:p>
            <a:r>
              <a:rPr lang="en-US" sz="4000" dirty="0"/>
              <a:t>February 2023: San Diego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83A74A8-ACB0-E4B8-C7C1-46A78A89191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352" y="76534"/>
            <a:ext cx="1234895" cy="12726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Picture 3" descr="Logo&#10;&#10;Description automatically generated">
            <a:extLst>
              <a:ext uri="{FF2B5EF4-FFF2-40B4-BE49-F238E27FC236}">
                <a16:creationId xmlns:a16="http://schemas.microsoft.com/office/drawing/2014/main" id="{C7DA3C7F-448B-4A31-54E4-7D770B7C064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99327" y="5997388"/>
            <a:ext cx="1074356" cy="80732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5E153C5B-B789-E002-5371-BD7333D66C7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4450" y="1119012"/>
            <a:ext cx="8570424" cy="2754077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221CD07F-4F4C-A688-5C6F-CDE789C879F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09241" y="3824394"/>
            <a:ext cx="7145662" cy="29803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5946253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98DD6D-7311-E0D1-1B30-7409B55154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</p:spPr>
        <p:txBody>
          <a:bodyPr>
            <a:normAutofit/>
          </a:bodyPr>
          <a:lstStyle/>
          <a:p>
            <a:r>
              <a:rPr lang="en-US" sz="4000" dirty="0"/>
              <a:t>June 2023: San Diego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A049CD5-F5FD-43DB-1460-F9C3D611FE9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352" y="76534"/>
            <a:ext cx="1234895" cy="12726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Picture 3" descr="Logo&#10;&#10;Description automatically generated">
            <a:extLst>
              <a:ext uri="{FF2B5EF4-FFF2-40B4-BE49-F238E27FC236}">
                <a16:creationId xmlns:a16="http://schemas.microsoft.com/office/drawing/2014/main" id="{0F26BEE6-0E31-3ECF-1BC5-9CA1570F842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99327" y="5997388"/>
            <a:ext cx="1074356" cy="807320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4DE6B909-9FE8-F3E1-DDD6-47BEBF83426E}"/>
              </a:ext>
            </a:extLst>
          </p:cNvPr>
          <p:cNvSpPr txBox="1"/>
          <p:nvPr/>
        </p:nvSpPr>
        <p:spPr>
          <a:xfrm>
            <a:off x="192599" y="1920257"/>
            <a:ext cx="5266091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itchFamily="2" charset="2"/>
              <a:buChar char="v"/>
            </a:pPr>
            <a:r>
              <a:rPr lang="en-US" dirty="0"/>
              <a:t>Three drifters were deployed simultaneously </a:t>
            </a:r>
          </a:p>
          <a:p>
            <a:pPr marL="285750" indent="-285750">
              <a:buFont typeface="Wingdings" pitchFamily="2" charset="2"/>
              <a:buChar char="v"/>
            </a:pPr>
            <a:r>
              <a:rPr lang="en-US" dirty="0"/>
              <a:t>Drifter #4, #5, and #6:</a:t>
            </a:r>
          </a:p>
          <a:p>
            <a:pPr marL="742950" lvl="1" indent="-285750">
              <a:buFont typeface="Wingdings" pitchFamily="2" charset="2"/>
              <a:buChar char="v"/>
            </a:pPr>
            <a:r>
              <a:rPr lang="en-US" dirty="0"/>
              <a:t>24-hour missions</a:t>
            </a:r>
          </a:p>
          <a:p>
            <a:pPr marL="742950" lvl="1" indent="-285750">
              <a:buFont typeface="Wingdings" pitchFamily="2" charset="2"/>
              <a:buChar char="v"/>
            </a:pPr>
            <a:r>
              <a:rPr lang="en-US" dirty="0"/>
              <a:t>250-meter depths</a:t>
            </a:r>
          </a:p>
          <a:p>
            <a:pPr marL="742950" lvl="1" indent="-285750">
              <a:buFont typeface="Wingdings" pitchFamily="2" charset="2"/>
              <a:buChar char="v"/>
            </a:pPr>
            <a:r>
              <a:rPr lang="en-US" dirty="0"/>
              <a:t>12-hour surface intervals</a:t>
            </a:r>
          </a:p>
          <a:p>
            <a:pPr marL="742950" lvl="1" indent="-285750">
              <a:buFont typeface="Wingdings" pitchFamily="2" charset="2"/>
              <a:buChar char="v"/>
            </a:pPr>
            <a:r>
              <a:rPr lang="en-US" dirty="0"/>
              <a:t>drifted ~4-9 km during each dive</a:t>
            </a:r>
          </a:p>
          <a:p>
            <a:pPr marL="285750" indent="-285750">
              <a:buFont typeface="Wingdings" pitchFamily="2" charset="2"/>
              <a:buChar char="v"/>
            </a:pPr>
            <a:r>
              <a:rPr lang="en-US" dirty="0"/>
              <a:t>Each drifter was equipped with a USBL, enabling ranging between drifters </a:t>
            </a:r>
          </a:p>
          <a:p>
            <a:pPr marL="285750" indent="-285750">
              <a:buFont typeface="Wingdings" pitchFamily="2" charset="2"/>
              <a:buChar char="v"/>
            </a:pPr>
            <a:r>
              <a:rPr lang="en-US" dirty="0"/>
              <a:t>Two vector sensors were tested</a:t>
            </a:r>
          </a:p>
          <a:p>
            <a:pPr marL="742950" lvl="1" indent="-285750">
              <a:buFont typeface="Wingdings" pitchFamily="2" charset="2"/>
              <a:buChar char="v"/>
            </a:pPr>
            <a:r>
              <a:rPr lang="en-US" dirty="0"/>
              <a:t>Drifter #4: M-35 (2-D) </a:t>
            </a:r>
          </a:p>
          <a:p>
            <a:pPr marL="742950" lvl="1" indent="-285750">
              <a:buFont typeface="Wingdings" pitchFamily="2" charset="2"/>
              <a:buChar char="v"/>
            </a:pPr>
            <a:r>
              <a:rPr lang="en-US" dirty="0"/>
              <a:t>Drifter #5,#6: VS-209 (3-D)</a:t>
            </a:r>
          </a:p>
          <a:p>
            <a:pPr marL="285750" indent="-285750">
              <a:buFont typeface="Wingdings" pitchFamily="2" charset="2"/>
              <a:buChar char="v"/>
            </a:pPr>
            <a:r>
              <a:rPr lang="en-US" dirty="0"/>
              <a:t>Updates were made to the drifter state machine to maximize time in hibernation mode and to reduce self noise caused by the drifter pump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55DBF73-9AD7-72CF-784B-9E50C309C595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21538" r="20125" b="9269"/>
          <a:stretch>
            <a:fillRect/>
          </a:stretch>
        </p:blipFill>
        <p:spPr>
          <a:xfrm>
            <a:off x="6733312" y="712835"/>
            <a:ext cx="4534239" cy="4603323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AC92DF88-01F6-C085-F202-C4C090EA729B}"/>
              </a:ext>
            </a:extLst>
          </p:cNvPr>
          <p:cNvSpPr txBox="1"/>
          <p:nvPr/>
        </p:nvSpPr>
        <p:spPr>
          <a:xfrm>
            <a:off x="9117731" y="3429000"/>
            <a:ext cx="81810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highlight>
                  <a:srgbClr val="FFFF00"/>
                </a:highlight>
              </a:rPr>
              <a:t>Deployed</a:t>
            </a:r>
          </a:p>
        </p:txBody>
      </p:sp>
    </p:spTree>
    <p:extLst>
      <p:ext uri="{BB962C8B-B14F-4D97-AF65-F5344CB8AC3E}">
        <p14:creationId xmlns:p14="http://schemas.microsoft.com/office/powerpoint/2010/main" val="164887623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BA2403-081B-E364-11B5-A6742C680F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5DAC06-02FC-F23D-2FA2-645D96502B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</p:spPr>
        <p:txBody>
          <a:bodyPr>
            <a:normAutofit/>
          </a:bodyPr>
          <a:lstStyle/>
          <a:p>
            <a:r>
              <a:rPr lang="en-US" sz="4000" dirty="0"/>
              <a:t>June 2023: San Diego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F6819B5-E1E0-3E44-C634-65D67F144F3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352" y="76534"/>
            <a:ext cx="1234895" cy="12726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Picture 3" descr="Logo&#10;&#10;Description automatically generated">
            <a:extLst>
              <a:ext uri="{FF2B5EF4-FFF2-40B4-BE49-F238E27FC236}">
                <a16:creationId xmlns:a16="http://schemas.microsoft.com/office/drawing/2014/main" id="{2D117890-1501-61C7-B0F8-A9A727DE3BC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99327" y="5997388"/>
            <a:ext cx="1074356" cy="80732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A74B2776-D162-E8BD-98C2-8FE61312589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64734" y="1052769"/>
            <a:ext cx="6086694" cy="3018194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23572244-4ACC-8641-E17E-5F9B89BA689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022621" y="3985903"/>
            <a:ext cx="6570921" cy="27848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6696570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C57ED4-FEAD-8378-4401-D081BAC181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3A94A0-22F8-31E5-B43C-DFEE4A42F6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</p:spPr>
        <p:txBody>
          <a:bodyPr>
            <a:normAutofit/>
          </a:bodyPr>
          <a:lstStyle/>
          <a:p>
            <a:r>
              <a:rPr lang="en-US" sz="4000" dirty="0"/>
              <a:t>September 2023: San Diego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55A0A36-AD85-5070-DB17-7F4124BDE34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352" y="76534"/>
            <a:ext cx="1234895" cy="12726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Picture 3" descr="Logo&#10;&#10;Description automatically generated">
            <a:extLst>
              <a:ext uri="{FF2B5EF4-FFF2-40B4-BE49-F238E27FC236}">
                <a16:creationId xmlns:a16="http://schemas.microsoft.com/office/drawing/2014/main" id="{6DBE607A-BE07-16AA-9262-D695C16651B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99327" y="5997388"/>
            <a:ext cx="1074356" cy="80732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60580EE5-2748-4B8F-9514-4C3EF14DB508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18080" r="18468" b="8912"/>
          <a:stretch>
            <a:fillRect/>
          </a:stretch>
        </p:blipFill>
        <p:spPr>
          <a:xfrm>
            <a:off x="7027383" y="1199203"/>
            <a:ext cx="4547367" cy="4628176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63175296-3E84-740D-32D9-A8BE22FA5E83}"/>
              </a:ext>
            </a:extLst>
          </p:cNvPr>
          <p:cNvSpPr txBox="1"/>
          <p:nvPr/>
        </p:nvSpPr>
        <p:spPr>
          <a:xfrm>
            <a:off x="564739" y="1443840"/>
            <a:ext cx="5266091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itchFamily="2" charset="2"/>
              <a:buChar char="v"/>
            </a:pPr>
            <a:r>
              <a:rPr lang="en-US" dirty="0"/>
              <a:t>One drifter was deployed </a:t>
            </a:r>
          </a:p>
          <a:p>
            <a:pPr marL="285750" indent="-285750">
              <a:buFont typeface="Wingdings" pitchFamily="2" charset="2"/>
              <a:buChar char="v"/>
            </a:pPr>
            <a:r>
              <a:rPr lang="en-US" dirty="0"/>
              <a:t>Drifter #6: </a:t>
            </a:r>
          </a:p>
          <a:p>
            <a:pPr marL="742950" lvl="1" indent="-285750">
              <a:buFont typeface="Wingdings" pitchFamily="2" charset="2"/>
              <a:buChar char="v"/>
            </a:pPr>
            <a:r>
              <a:rPr lang="en-US" dirty="0"/>
              <a:t>72-hour mission</a:t>
            </a:r>
          </a:p>
          <a:p>
            <a:pPr marL="742950" lvl="1" indent="-285750">
              <a:buFont typeface="Wingdings" pitchFamily="2" charset="2"/>
              <a:buChar char="v"/>
            </a:pPr>
            <a:r>
              <a:rPr lang="en-US" dirty="0"/>
              <a:t>250-meter depth</a:t>
            </a:r>
          </a:p>
          <a:p>
            <a:pPr marL="742950" lvl="1" indent="-285750">
              <a:buFont typeface="Wingdings" pitchFamily="2" charset="2"/>
              <a:buChar char="v"/>
            </a:pPr>
            <a:r>
              <a:rPr lang="en-US" dirty="0"/>
              <a:t>24-hour surface intervals</a:t>
            </a:r>
          </a:p>
          <a:p>
            <a:pPr marL="742950" lvl="1" indent="-285750">
              <a:buFont typeface="Wingdings" pitchFamily="2" charset="2"/>
              <a:buChar char="v"/>
            </a:pPr>
            <a:r>
              <a:rPr lang="en-US" dirty="0"/>
              <a:t>got stuck at 75 m attempting to perform the first surface interval</a:t>
            </a:r>
          </a:p>
          <a:p>
            <a:pPr marL="742950" lvl="1" indent="-285750">
              <a:buFont typeface="Wingdings" pitchFamily="2" charset="2"/>
              <a:buChar char="v"/>
            </a:pPr>
            <a:r>
              <a:rPr lang="en-US" dirty="0"/>
              <a:t>drifted 28 km</a:t>
            </a:r>
          </a:p>
          <a:p>
            <a:pPr marL="285750" indent="-285750">
              <a:buFont typeface="Wingdings" pitchFamily="2" charset="2"/>
              <a:buChar char="v"/>
            </a:pPr>
            <a:r>
              <a:rPr lang="en-US" dirty="0"/>
              <a:t>One vector sensors was tested</a:t>
            </a:r>
          </a:p>
          <a:p>
            <a:pPr marL="742950" lvl="1" indent="-285750">
              <a:buFont typeface="Wingdings" pitchFamily="2" charset="2"/>
              <a:buChar char="v"/>
            </a:pPr>
            <a:r>
              <a:rPr lang="en-US" dirty="0"/>
              <a:t>VS-209 (3-D)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8B5B7A88-A45B-302D-5B0E-46DF44C9D89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85717" y="4133104"/>
            <a:ext cx="6773314" cy="2724896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41AAEB36-54E5-D4DD-6522-DE13520B7458}"/>
              </a:ext>
            </a:extLst>
          </p:cNvPr>
          <p:cNvSpPr txBox="1"/>
          <p:nvPr/>
        </p:nvSpPr>
        <p:spPr>
          <a:xfrm>
            <a:off x="7787696" y="3610365"/>
            <a:ext cx="81810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highlight>
                  <a:srgbClr val="FFFF00"/>
                </a:highlight>
              </a:rPr>
              <a:t>Deployed</a:t>
            </a:r>
          </a:p>
        </p:txBody>
      </p:sp>
    </p:spTree>
    <p:extLst>
      <p:ext uri="{BB962C8B-B14F-4D97-AF65-F5344CB8AC3E}">
        <p14:creationId xmlns:p14="http://schemas.microsoft.com/office/powerpoint/2010/main" val="367370562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F64894-A6D3-853C-60AD-F522DBEB65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AF658B-8789-B45B-99B6-9BFA69EFE9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</p:spPr>
        <p:txBody>
          <a:bodyPr>
            <a:normAutofit/>
          </a:bodyPr>
          <a:lstStyle/>
          <a:p>
            <a:r>
              <a:rPr lang="en-US" sz="4000" dirty="0"/>
              <a:t>January 2024: San Diego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B4B1C95-26B0-992B-05BA-6EE1DF0A036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352" y="76534"/>
            <a:ext cx="1234895" cy="12726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Picture 3" descr="Logo&#10;&#10;Description automatically generated">
            <a:extLst>
              <a:ext uri="{FF2B5EF4-FFF2-40B4-BE49-F238E27FC236}">
                <a16:creationId xmlns:a16="http://schemas.microsoft.com/office/drawing/2014/main" id="{33AD413E-6286-B766-7CC4-B5E8511FC64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99327" y="5997388"/>
            <a:ext cx="1074356" cy="80732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88F146FD-E324-EE3C-D168-69564984BAD2}"/>
              </a:ext>
            </a:extLst>
          </p:cNvPr>
          <p:cNvSpPr txBox="1"/>
          <p:nvPr/>
        </p:nvSpPr>
        <p:spPr>
          <a:xfrm>
            <a:off x="192599" y="1920257"/>
            <a:ext cx="5266091" cy="4247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itchFamily="2" charset="2"/>
              <a:buChar char="v"/>
            </a:pPr>
            <a:r>
              <a:rPr lang="en-US" dirty="0"/>
              <a:t>Two drifters were deployed simultaneously </a:t>
            </a:r>
          </a:p>
          <a:p>
            <a:pPr marL="285750" indent="-285750">
              <a:buFont typeface="Wingdings" pitchFamily="2" charset="2"/>
              <a:buChar char="v"/>
            </a:pPr>
            <a:r>
              <a:rPr lang="en-US" dirty="0"/>
              <a:t>Drifter #5:</a:t>
            </a:r>
          </a:p>
          <a:p>
            <a:pPr marL="742950" lvl="1" indent="-285750">
              <a:buFont typeface="Wingdings" pitchFamily="2" charset="2"/>
              <a:buChar char="v"/>
            </a:pPr>
            <a:r>
              <a:rPr lang="en-US" dirty="0"/>
              <a:t>72-hour mission</a:t>
            </a:r>
          </a:p>
          <a:p>
            <a:pPr marL="742950" lvl="1" indent="-285750">
              <a:buFont typeface="Wingdings" pitchFamily="2" charset="2"/>
              <a:buChar char="v"/>
            </a:pPr>
            <a:r>
              <a:rPr lang="en-US" dirty="0"/>
              <a:t>Two dives to 100m, one to 300m</a:t>
            </a:r>
          </a:p>
          <a:p>
            <a:pPr marL="742950" lvl="1" indent="-285750">
              <a:buFont typeface="Wingdings" pitchFamily="2" charset="2"/>
              <a:buChar char="v"/>
            </a:pPr>
            <a:r>
              <a:rPr lang="en-US" dirty="0"/>
              <a:t>24-hour surface intervals</a:t>
            </a:r>
          </a:p>
          <a:p>
            <a:pPr marL="742950" lvl="1" indent="-285750">
              <a:buFont typeface="Wingdings" pitchFamily="2" charset="2"/>
              <a:buChar char="v"/>
            </a:pPr>
            <a:r>
              <a:rPr lang="en-US" dirty="0"/>
              <a:t>Drifted ~8-14 km each dive</a:t>
            </a:r>
          </a:p>
          <a:p>
            <a:pPr marL="742950" lvl="1" indent="-285750">
              <a:buFont typeface="Wingdings" pitchFamily="2" charset="2"/>
              <a:buChar char="v"/>
            </a:pPr>
            <a:r>
              <a:rPr lang="en-US" dirty="0"/>
              <a:t>thermistor string </a:t>
            </a:r>
          </a:p>
          <a:p>
            <a:pPr marL="285750" indent="-285750">
              <a:buFont typeface="Wingdings" pitchFamily="2" charset="2"/>
              <a:buChar char="v"/>
            </a:pPr>
            <a:r>
              <a:rPr lang="en-US" dirty="0"/>
              <a:t>Drifter #6:</a:t>
            </a:r>
          </a:p>
          <a:p>
            <a:pPr marL="742950" lvl="1" indent="-285750">
              <a:buFont typeface="Wingdings" pitchFamily="2" charset="2"/>
              <a:buChar char="v"/>
            </a:pPr>
            <a:r>
              <a:rPr lang="en-US" dirty="0"/>
              <a:t>72-hour mission</a:t>
            </a:r>
          </a:p>
          <a:p>
            <a:pPr marL="742950" lvl="1" indent="-285750">
              <a:buFont typeface="Wingdings" pitchFamily="2" charset="2"/>
              <a:buChar char="v"/>
            </a:pPr>
            <a:r>
              <a:rPr lang="en-US" dirty="0"/>
              <a:t>One dive to 100m, then stuck at surface</a:t>
            </a:r>
          </a:p>
          <a:p>
            <a:pPr marL="742950" lvl="1" indent="-285750">
              <a:buFont typeface="Wingdings" pitchFamily="2" charset="2"/>
              <a:buChar char="v"/>
            </a:pPr>
            <a:r>
              <a:rPr lang="en-US" dirty="0"/>
              <a:t>Drifted 11 km during the dive</a:t>
            </a:r>
          </a:p>
          <a:p>
            <a:pPr marL="742950" lvl="1" indent="-285750">
              <a:buFont typeface="Wingdings" pitchFamily="2" charset="2"/>
              <a:buChar char="v"/>
            </a:pPr>
            <a:r>
              <a:rPr lang="en-US" dirty="0"/>
              <a:t>Drifted 25 km at surface</a:t>
            </a:r>
          </a:p>
          <a:p>
            <a:pPr marL="285750" indent="-285750">
              <a:buFont typeface="Wingdings" pitchFamily="2" charset="2"/>
              <a:buChar char="v"/>
            </a:pPr>
            <a:r>
              <a:rPr lang="en-US" dirty="0"/>
              <a:t>Each drifter was equipped with a USBL, enabling ranging between drifters</a:t>
            </a:r>
          </a:p>
          <a:p>
            <a:pPr marL="285750" indent="-285750">
              <a:buFont typeface="Wingdings" pitchFamily="2" charset="2"/>
              <a:buChar char="v"/>
            </a:pPr>
            <a:r>
              <a:rPr lang="en-US" dirty="0"/>
              <a:t>Both had VS-209 (3-D) vector sensors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626B98FB-434C-80B1-B62D-A91296DE5D3B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15390" t="-2484" r="18073" b="6731"/>
          <a:stretch>
            <a:fillRect/>
          </a:stretch>
        </p:blipFill>
        <p:spPr>
          <a:xfrm>
            <a:off x="6733312" y="1"/>
            <a:ext cx="5171550" cy="57912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7D6BFA66-ECFA-869A-CBFB-B0D6E9A7CB2A}"/>
              </a:ext>
            </a:extLst>
          </p:cNvPr>
          <p:cNvSpPr txBox="1"/>
          <p:nvPr/>
        </p:nvSpPr>
        <p:spPr>
          <a:xfrm>
            <a:off x="9128123" y="4431246"/>
            <a:ext cx="81810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highlight>
                  <a:srgbClr val="FFFF00"/>
                </a:highlight>
              </a:rPr>
              <a:t>Deployed</a:t>
            </a:r>
          </a:p>
        </p:txBody>
      </p:sp>
    </p:spTree>
    <p:extLst>
      <p:ext uri="{BB962C8B-B14F-4D97-AF65-F5344CB8AC3E}">
        <p14:creationId xmlns:p14="http://schemas.microsoft.com/office/powerpoint/2010/main" val="403022641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4682C3-8650-EF3A-2979-33235847A4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7E70A3-875A-DFA1-1113-AAFAA28787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</p:spPr>
        <p:txBody>
          <a:bodyPr>
            <a:normAutofit/>
          </a:bodyPr>
          <a:lstStyle/>
          <a:p>
            <a:r>
              <a:rPr lang="en-US" sz="4000" dirty="0"/>
              <a:t>January 2024: San Diego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0693C29-DBED-4FA8-53D1-6D73478B188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352" y="76534"/>
            <a:ext cx="1234895" cy="12726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Picture 3" descr="Logo&#10;&#10;Description automatically generated">
            <a:extLst>
              <a:ext uri="{FF2B5EF4-FFF2-40B4-BE49-F238E27FC236}">
                <a16:creationId xmlns:a16="http://schemas.microsoft.com/office/drawing/2014/main" id="{BFD5DDC1-8953-F240-A5E6-2C319931974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99327" y="5997388"/>
            <a:ext cx="1074356" cy="80732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5DFBFA6E-88A3-9EEB-4F39-6D2263AD35A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98281" y="1328207"/>
            <a:ext cx="6764966" cy="2699147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C180564-EE02-6000-8D59-27CB8F2821E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37923" y="3974062"/>
            <a:ext cx="8685682" cy="28306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897006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0A3D53-F9A0-337A-CE0E-5573CE9B5E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8C5A6B-02DF-4EB2-57B3-8072152DA9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</p:spPr>
        <p:txBody>
          <a:bodyPr>
            <a:normAutofit/>
          </a:bodyPr>
          <a:lstStyle/>
          <a:p>
            <a:r>
              <a:rPr lang="en-US" sz="4000" dirty="0"/>
              <a:t>May 2024: San Diego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54D8037-3F4C-CB05-AC42-ADF661E4786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352" y="76534"/>
            <a:ext cx="1234895" cy="12726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3EA9D0E4-B1B4-FC59-2B4A-A6BF81A84E17}"/>
              </a:ext>
            </a:extLst>
          </p:cNvPr>
          <p:cNvSpPr txBox="1"/>
          <p:nvPr/>
        </p:nvSpPr>
        <p:spPr>
          <a:xfrm>
            <a:off x="192599" y="1920257"/>
            <a:ext cx="5641848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itchFamily="2" charset="2"/>
              <a:buChar char="v"/>
            </a:pPr>
            <a:r>
              <a:rPr lang="en-US" dirty="0"/>
              <a:t>One drifters was deployed </a:t>
            </a:r>
          </a:p>
          <a:p>
            <a:pPr marL="285750" indent="-285750">
              <a:buFont typeface="Wingdings" pitchFamily="2" charset="2"/>
              <a:buChar char="v"/>
            </a:pPr>
            <a:r>
              <a:rPr lang="en-US" dirty="0"/>
              <a:t>Drifter #5:</a:t>
            </a:r>
          </a:p>
          <a:p>
            <a:pPr marL="742950" lvl="1" indent="-285750">
              <a:buFont typeface="Wingdings" pitchFamily="2" charset="2"/>
              <a:buChar char="v"/>
            </a:pPr>
            <a:r>
              <a:rPr lang="en-US" dirty="0"/>
              <a:t>72-hour mission</a:t>
            </a:r>
          </a:p>
          <a:p>
            <a:pPr marL="742950" lvl="1" indent="-285750">
              <a:buFont typeface="Wingdings" pitchFamily="2" charset="2"/>
              <a:buChar char="v"/>
            </a:pPr>
            <a:r>
              <a:rPr lang="en-US" dirty="0"/>
              <a:t>One dive to 100m for 48 hours – drifted 12 km</a:t>
            </a:r>
          </a:p>
          <a:p>
            <a:pPr marL="742950" lvl="1" indent="-285750">
              <a:buFont typeface="Wingdings" pitchFamily="2" charset="2"/>
              <a:buChar char="v"/>
            </a:pPr>
            <a:r>
              <a:rPr lang="en-US" dirty="0"/>
              <a:t>Surface interval then dove to 300m, aborted after 10 hours (early GTR release) – drifted 2 km</a:t>
            </a:r>
          </a:p>
          <a:p>
            <a:pPr marL="742950" lvl="1" indent="-285750">
              <a:buFont typeface="Wingdings" pitchFamily="2" charset="2"/>
              <a:buChar char="v"/>
            </a:pPr>
            <a:r>
              <a:rPr lang="en-US" dirty="0"/>
              <a:t>VS-209 (3-D) vector sensor</a:t>
            </a:r>
          </a:p>
          <a:p>
            <a:pPr marL="742950" lvl="1" indent="-285750">
              <a:buFont typeface="Wingdings" pitchFamily="2" charset="2"/>
              <a:buChar char="v"/>
            </a:pPr>
            <a:r>
              <a:rPr lang="en-US" dirty="0"/>
              <a:t>deployed with a thermistor string and ADCP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2A9D91EC-56D3-0897-87F3-50314017D28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3196" r="13803"/>
          <a:stretch>
            <a:fillRect/>
          </a:stretch>
        </p:blipFill>
        <p:spPr>
          <a:xfrm>
            <a:off x="5694054" y="358546"/>
            <a:ext cx="5641848" cy="6304782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CCAB8387-2C2E-DBB1-6485-D9FBCBAA656C}"/>
              </a:ext>
            </a:extLst>
          </p:cNvPr>
          <p:cNvSpPr txBox="1"/>
          <p:nvPr/>
        </p:nvSpPr>
        <p:spPr>
          <a:xfrm>
            <a:off x="8774832" y="4176626"/>
            <a:ext cx="81810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highlight>
                  <a:srgbClr val="FFFF00"/>
                </a:highlight>
              </a:rPr>
              <a:t>Deployed</a:t>
            </a:r>
          </a:p>
        </p:txBody>
      </p:sp>
    </p:spTree>
    <p:extLst>
      <p:ext uri="{BB962C8B-B14F-4D97-AF65-F5344CB8AC3E}">
        <p14:creationId xmlns:p14="http://schemas.microsoft.com/office/powerpoint/2010/main" val="196111943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F06175-A6F5-2200-CEA9-CA25AB37B6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May 2024 – ADCP test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1B5FB0A-9F4F-AEDA-AE56-D44D9BCF825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2616" y="1821656"/>
            <a:ext cx="8756073" cy="4328637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5D036F25-8AB0-C065-8483-40C034A5E24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8772" r="40524"/>
          <a:stretch/>
        </p:blipFill>
        <p:spPr>
          <a:xfrm>
            <a:off x="10362294" y="125120"/>
            <a:ext cx="1131714" cy="64422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6700007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2892</TotalTime>
  <Words>406</Words>
  <Application>Microsoft Macintosh PowerPoint</Application>
  <PresentationFormat>Widescreen</PresentationFormat>
  <Paragraphs>72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Aptos</vt:lpstr>
      <vt:lpstr>Aptos Display</vt:lpstr>
      <vt:lpstr>Arial</vt:lpstr>
      <vt:lpstr>Wingdings</vt:lpstr>
      <vt:lpstr>Office Theme</vt:lpstr>
      <vt:lpstr>CA Drifter Deployment Summary</vt:lpstr>
      <vt:lpstr>February 2023: San Diego</vt:lpstr>
      <vt:lpstr>February 2023: San Diego</vt:lpstr>
      <vt:lpstr>June 2023: San Diego</vt:lpstr>
      <vt:lpstr>June 2023: San Diego</vt:lpstr>
      <vt:lpstr>September 2023: San Diego</vt:lpstr>
      <vt:lpstr>January 2024: San Diego</vt:lpstr>
      <vt:lpstr>January 2024: San Diego</vt:lpstr>
      <vt:lpstr>May 2024: San Diego</vt:lpstr>
      <vt:lpstr>May 2024 – ADCP test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Alison Laferriere</dc:creator>
  <cp:lastModifiedBy>Alison Laferriere</cp:lastModifiedBy>
  <cp:revision>18</cp:revision>
  <dcterms:created xsi:type="dcterms:W3CDTF">2025-09-21T21:24:04Z</dcterms:created>
  <dcterms:modified xsi:type="dcterms:W3CDTF">2025-09-27T20:16:45Z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defa4170-0d19-0005-0004-bc88714345d2_Enabled">
    <vt:lpwstr>true</vt:lpwstr>
  </property>
  <property fmtid="{D5CDD505-2E9C-101B-9397-08002B2CF9AE}" pid="3" name="MSIP_Label_defa4170-0d19-0005-0004-bc88714345d2_SetDate">
    <vt:lpwstr>2025-09-21T22:00:50Z</vt:lpwstr>
  </property>
  <property fmtid="{D5CDD505-2E9C-101B-9397-08002B2CF9AE}" pid="4" name="MSIP_Label_defa4170-0d19-0005-0004-bc88714345d2_Method">
    <vt:lpwstr>Standard</vt:lpwstr>
  </property>
  <property fmtid="{D5CDD505-2E9C-101B-9397-08002B2CF9AE}" pid="5" name="MSIP_Label_defa4170-0d19-0005-0004-bc88714345d2_Name">
    <vt:lpwstr>defa4170-0d19-0005-0004-bc88714345d2</vt:lpwstr>
  </property>
  <property fmtid="{D5CDD505-2E9C-101B-9397-08002B2CF9AE}" pid="6" name="MSIP_Label_defa4170-0d19-0005-0004-bc88714345d2_SiteId">
    <vt:lpwstr>b6761aac-d07a-40b3-aa12-1cda0c651bb1</vt:lpwstr>
  </property>
  <property fmtid="{D5CDD505-2E9C-101B-9397-08002B2CF9AE}" pid="7" name="MSIP_Label_defa4170-0d19-0005-0004-bc88714345d2_ActionId">
    <vt:lpwstr>b7e5ea44-b11b-4657-90bd-62146dd55ef6</vt:lpwstr>
  </property>
  <property fmtid="{D5CDD505-2E9C-101B-9397-08002B2CF9AE}" pid="8" name="MSIP_Label_defa4170-0d19-0005-0004-bc88714345d2_ContentBits">
    <vt:lpwstr>0</vt:lpwstr>
  </property>
  <property fmtid="{D5CDD505-2E9C-101B-9397-08002B2CF9AE}" pid="9" name="MSIP_Label_defa4170-0d19-0005-0004-bc88714345d2_Tag">
    <vt:lpwstr>50, 3, 0, 1</vt:lpwstr>
  </property>
</Properties>
</file>